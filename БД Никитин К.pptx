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14"/>
  </p:notesMasterIdLst>
  <p:sldIdLst>
    <p:sldId id="256" r:id="rId2"/>
    <p:sldId id="289" r:id="rId3"/>
    <p:sldId id="305" r:id="rId4"/>
    <p:sldId id="306" r:id="rId5"/>
    <p:sldId id="307" r:id="rId6"/>
    <p:sldId id="304" r:id="rId7"/>
    <p:sldId id="308" r:id="rId8"/>
    <p:sldId id="309" r:id="rId9"/>
    <p:sldId id="310" r:id="rId10"/>
    <p:sldId id="311" r:id="rId11"/>
    <p:sldId id="312" r:id="rId12"/>
    <p:sldId id="313" r:id="rId1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4D79A148-BB74-4F1C-B4E4-15CE241C890B}">
          <p14:sldIdLst>
            <p14:sldId id="256"/>
          </p14:sldIdLst>
        </p14:section>
        <p14:section name="Раздел без заголовка" id="{084E627B-B3EF-4945-AE3C-4CCA5A052EF5}">
          <p14:sldIdLst>
            <p14:sldId id="289"/>
            <p14:sldId id="305"/>
            <p14:sldId id="306"/>
            <p14:sldId id="307"/>
            <p14:sldId id="304"/>
            <p14:sldId id="308"/>
            <p14:sldId id="309"/>
            <p14:sldId id="310"/>
            <p14:sldId id="311"/>
            <p14:sldId id="312"/>
            <p14:sldId id="31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6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Светлый стиль 2 -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301B821-A1FF-4177-AEE7-76D212191A09}" styleName="Средний стиль 1 -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Средний стиль 3 - акцент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Средний стиль 2 -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829" autoAdjust="0"/>
  </p:normalViewPr>
  <p:slideViewPr>
    <p:cSldViewPr>
      <p:cViewPr varScale="1">
        <p:scale>
          <a:sx n="79" d="100"/>
          <a:sy n="79" d="100"/>
        </p:scale>
        <p:origin x="108" y="6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CF1D81-4EE5-4E39-B6F1-8885B9595BAC}" type="datetimeFigureOut">
              <a:rPr lang="ru-RU" smtClean="0"/>
              <a:pPr/>
              <a:t>09.12.2023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333C84-2CFA-4DD2-89FC-3019C6957BF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6678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F6A50-2970-4D2B-BBFE-15D12F89CB5A}" type="datetime1">
              <a:rPr lang="ru-RU" smtClean="0"/>
              <a:pPr/>
              <a:t>09.12.2023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3A3A5-6838-4BA8-BE42-EBE612759A0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9770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3E16-A3BD-4F48-B288-33F824B1929E}" type="datetime1">
              <a:rPr lang="ru-RU" smtClean="0"/>
              <a:pPr/>
              <a:t>09.12.2023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3A3A5-6838-4BA8-BE42-EBE612759A0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5046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21234-7A09-4074-A921-CB27B7EA6D46}" type="datetime1">
              <a:rPr lang="ru-RU" smtClean="0"/>
              <a:pPr/>
              <a:t>09.12.2023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3A3A5-6838-4BA8-BE42-EBE612759A0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5266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30C46-F36C-452F-AF09-3054BF99695F}" type="datetime1">
              <a:rPr lang="ru-RU" smtClean="0"/>
              <a:pPr/>
              <a:t>09.12.2023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3A3A5-6838-4BA8-BE42-EBE612759A0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7713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E09F5-19E9-4ECA-A848-F4BFC063EE6D}" type="datetime1">
              <a:rPr lang="ru-RU" smtClean="0"/>
              <a:pPr/>
              <a:t>09.12.2023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3A3A5-6838-4BA8-BE42-EBE612759A0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4219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B2CC4-4CC8-4D06-8A49-96470D9243A3}" type="datetime1">
              <a:rPr lang="ru-RU" smtClean="0"/>
              <a:pPr/>
              <a:t>09.12.2023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3A3A5-6838-4BA8-BE42-EBE612759A0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7191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CA07F-999E-4F0E-83A1-A82334BEE0B3}" type="datetime1">
              <a:rPr lang="ru-RU" smtClean="0"/>
              <a:pPr/>
              <a:t>09.12.2023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3A3A5-6838-4BA8-BE42-EBE612759A0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9997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79E99-EE21-493D-8594-A240AFAA2AFB}" type="datetime1">
              <a:rPr lang="ru-RU" smtClean="0"/>
              <a:pPr/>
              <a:t>09.12.2023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3A3A5-6838-4BA8-BE42-EBE612759A0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3316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111D7-1538-469E-8B2F-356BB9CB12F0}" type="datetime1">
              <a:rPr lang="ru-RU" smtClean="0"/>
              <a:pPr/>
              <a:t>09.12.2023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3A3A5-6838-4BA8-BE42-EBE612759A0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4107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499C3-B385-48FC-A3DC-771F5EFAE80F}" type="datetime1">
              <a:rPr lang="ru-RU" smtClean="0"/>
              <a:pPr/>
              <a:t>09.12.2023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3A3A5-6838-4BA8-BE42-EBE612759A0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5000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E285E-6CE2-4AB7-8B62-DB38C6BD6E0F}" type="datetime1">
              <a:rPr lang="ru-RU" smtClean="0"/>
              <a:pPr/>
              <a:t>09.12.2023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3A3A5-6838-4BA8-BE42-EBE612759A0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1510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59931E-195D-4B26-80FE-29169D29C9C8}" type="datetime1">
              <a:rPr lang="ru-RU" smtClean="0"/>
              <a:pPr/>
              <a:t>09.12.2023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D3A3A5-6838-4BA8-BE42-EBE612759A0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7649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/>
          <p:cNvSpPr/>
          <p:nvPr/>
        </p:nvSpPr>
        <p:spPr>
          <a:xfrm>
            <a:off x="4499992" y="116632"/>
            <a:ext cx="4536504" cy="6624736"/>
          </a:xfrm>
          <a:prstGeom prst="rect">
            <a:avLst/>
          </a:prstGeom>
          <a:ln w="76200">
            <a:solidFill>
              <a:srgbClr val="DE652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ru-RU" b="1" dirty="0">
              <a:solidFill>
                <a:schemeClr val="tx1"/>
              </a:solidFill>
            </a:endParaRPr>
          </a:p>
          <a:p>
            <a:endParaRPr lang="ru-RU" b="1" dirty="0">
              <a:solidFill>
                <a:schemeClr val="tx1"/>
              </a:solidFill>
            </a:endParaRPr>
          </a:p>
          <a:p>
            <a:endParaRPr lang="ru-RU" b="1" dirty="0">
              <a:solidFill>
                <a:schemeClr val="tx1"/>
              </a:solidFill>
            </a:endParaRPr>
          </a:p>
          <a:p>
            <a:endParaRPr lang="ru-RU" b="1" dirty="0">
              <a:solidFill>
                <a:schemeClr val="tx1"/>
              </a:solidFill>
            </a:endParaRPr>
          </a:p>
          <a:p>
            <a:endParaRPr lang="ru-RU" b="1" dirty="0">
              <a:solidFill>
                <a:schemeClr val="tx1"/>
              </a:solidFill>
            </a:endParaRPr>
          </a:p>
          <a:p>
            <a:r>
              <a:rPr lang="ru-RU" b="1" dirty="0">
                <a:solidFill>
                  <a:schemeClr val="tx1"/>
                </a:solidFill>
              </a:rPr>
              <a:t>Студент группы: Никитин К. Е.</a:t>
            </a:r>
          </a:p>
          <a:p>
            <a:endParaRPr lang="ru-RU" b="1" dirty="0">
              <a:solidFill>
                <a:schemeClr val="tx1"/>
              </a:solidFill>
            </a:endParaRPr>
          </a:p>
          <a:p>
            <a:r>
              <a:rPr lang="ru-RU" b="1" dirty="0">
                <a:solidFill>
                  <a:schemeClr val="tx1"/>
                </a:solidFill>
              </a:rPr>
              <a:t>Руководитель: </a:t>
            </a:r>
            <a:r>
              <a:rPr lang="ru-RU" b="1" dirty="0" err="1">
                <a:solidFill>
                  <a:schemeClr val="tx1"/>
                </a:solidFill>
              </a:rPr>
              <a:t>Ордяков</a:t>
            </a:r>
            <a:r>
              <a:rPr lang="ru-RU" b="1" dirty="0">
                <a:solidFill>
                  <a:schemeClr val="tx1"/>
                </a:solidFill>
              </a:rPr>
              <a:t> Д.Е.</a:t>
            </a:r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177" y="0"/>
            <a:ext cx="4433161" cy="6858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8" name="Группа 7"/>
          <p:cNvGrpSpPr/>
          <p:nvPr/>
        </p:nvGrpSpPr>
        <p:grpSpPr>
          <a:xfrm>
            <a:off x="107504" y="5085184"/>
            <a:ext cx="6480720" cy="1296144"/>
            <a:chOff x="2843808" y="5033185"/>
            <a:chExt cx="5688632" cy="108012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7" name="Прямоугольник 6"/>
            <p:cNvSpPr/>
            <p:nvPr/>
          </p:nvSpPr>
          <p:spPr>
            <a:xfrm>
              <a:off x="2843808" y="5033185"/>
              <a:ext cx="5688632" cy="108012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5" name="Рисунок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59832" y="5157192"/>
              <a:ext cx="5154178" cy="832106"/>
            </a:xfrm>
            <a:prstGeom prst="rect">
              <a:avLst/>
            </a:prstGeom>
          </p:spPr>
        </p:pic>
      </p:grpSp>
      <p:sp>
        <p:nvSpPr>
          <p:cNvPr id="13" name="TextBox 12"/>
          <p:cNvSpPr txBox="1"/>
          <p:nvPr/>
        </p:nvSpPr>
        <p:spPr>
          <a:xfrm>
            <a:off x="4572000" y="692695"/>
            <a:ext cx="432048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/>
              <a:t>«Разработка и защита базы данных автоматизированной информационной системы службы доставки ресторана»</a:t>
            </a:r>
            <a:br>
              <a:rPr lang="ru-RU" sz="3200" dirty="0"/>
            </a:br>
            <a:endParaRPr lang="ru-RU" sz="3000" b="1" dirty="0">
              <a:solidFill>
                <a:schemeClr val="accent3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3A3A5-6838-4BA8-BE42-EBE612759A09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5981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Группа 16"/>
          <p:cNvGrpSpPr/>
          <p:nvPr/>
        </p:nvGrpSpPr>
        <p:grpSpPr>
          <a:xfrm>
            <a:off x="251520" y="188640"/>
            <a:ext cx="8712968" cy="6462736"/>
            <a:chOff x="251520" y="188640"/>
            <a:chExt cx="8712968" cy="6462736"/>
          </a:xfrm>
        </p:grpSpPr>
        <p:grpSp>
          <p:nvGrpSpPr>
            <p:cNvPr id="16" name="Группа 15"/>
            <p:cNvGrpSpPr/>
            <p:nvPr/>
          </p:nvGrpSpPr>
          <p:grpSpPr>
            <a:xfrm>
              <a:off x="251520" y="188640"/>
              <a:ext cx="8712968" cy="6462736"/>
              <a:chOff x="251520" y="188640"/>
              <a:chExt cx="8712968" cy="6462736"/>
            </a:xfrm>
          </p:grpSpPr>
          <p:sp>
            <p:nvSpPr>
              <p:cNvPr id="4" name="Прямоугольник 3"/>
              <p:cNvSpPr/>
              <p:nvPr/>
            </p:nvSpPr>
            <p:spPr>
              <a:xfrm>
                <a:off x="251520" y="188640"/>
                <a:ext cx="8712968" cy="6462736"/>
              </a:xfrm>
              <a:prstGeom prst="rect">
                <a:avLst/>
              </a:prstGeom>
              <a:ln w="76200">
                <a:solidFill>
                  <a:srgbClr val="DE6522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endParaRPr lang="ru-RU" sz="2800" b="1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8" name="Прямоугольник 7"/>
              <p:cNvSpPr/>
              <p:nvPr/>
            </p:nvSpPr>
            <p:spPr>
              <a:xfrm>
                <a:off x="251520" y="188640"/>
                <a:ext cx="8640960" cy="872480"/>
              </a:xfrm>
              <a:prstGeom prst="rect">
                <a:avLst/>
              </a:prstGeom>
              <a:solidFill>
                <a:srgbClr val="DE6522"/>
              </a:solidFill>
              <a:ln w="76200">
                <a:solidFill>
                  <a:srgbClr val="DE6522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endParaRPr lang="ru-RU" sz="16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5" name="Группа 4"/>
            <p:cNvGrpSpPr/>
            <p:nvPr/>
          </p:nvGrpSpPr>
          <p:grpSpPr>
            <a:xfrm>
              <a:off x="5220072" y="188640"/>
              <a:ext cx="3672408" cy="792088"/>
              <a:chOff x="2843808" y="5033185"/>
              <a:chExt cx="5688632" cy="108012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6" name="Прямоугольник 5"/>
              <p:cNvSpPr/>
              <p:nvPr/>
            </p:nvSpPr>
            <p:spPr>
              <a:xfrm>
                <a:off x="2843808" y="5033185"/>
                <a:ext cx="5688632" cy="108012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pic>
            <p:nvPicPr>
              <p:cNvPr id="7" name="Рисунок 6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59832" y="5157192"/>
                <a:ext cx="5154178" cy="832106"/>
              </a:xfrm>
              <a:prstGeom prst="rect">
                <a:avLst/>
              </a:prstGeom>
            </p:spPr>
          </p:pic>
        </p:grpSp>
      </p:grp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3A3A5-6838-4BA8-BE42-EBE612759A09}" type="slidenum">
              <a:rPr lang="ru-RU" smtClean="0"/>
              <a:pPr/>
              <a:t>2</a:t>
            </a:fld>
            <a:endParaRPr lang="ru-RU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6303713"/>
            <a:ext cx="7005637" cy="347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Прямоугольник 17"/>
          <p:cNvSpPr/>
          <p:nvPr/>
        </p:nvSpPr>
        <p:spPr>
          <a:xfrm>
            <a:off x="359532" y="400017"/>
            <a:ext cx="47525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Логическая модель БД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09304286-7DD6-4F22-AB02-0407951154E4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402998" y="1152058"/>
            <a:ext cx="8489482" cy="440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998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Группа 16"/>
          <p:cNvGrpSpPr/>
          <p:nvPr/>
        </p:nvGrpSpPr>
        <p:grpSpPr>
          <a:xfrm>
            <a:off x="251520" y="188640"/>
            <a:ext cx="8712968" cy="6462736"/>
            <a:chOff x="251520" y="188640"/>
            <a:chExt cx="8712968" cy="6462736"/>
          </a:xfrm>
        </p:grpSpPr>
        <p:grpSp>
          <p:nvGrpSpPr>
            <p:cNvPr id="16" name="Группа 15"/>
            <p:cNvGrpSpPr/>
            <p:nvPr/>
          </p:nvGrpSpPr>
          <p:grpSpPr>
            <a:xfrm>
              <a:off x="251520" y="188640"/>
              <a:ext cx="8712968" cy="6462736"/>
              <a:chOff x="251520" y="188640"/>
              <a:chExt cx="8712968" cy="6462736"/>
            </a:xfrm>
          </p:grpSpPr>
          <p:sp>
            <p:nvSpPr>
              <p:cNvPr id="4" name="Прямоугольник 3"/>
              <p:cNvSpPr/>
              <p:nvPr/>
            </p:nvSpPr>
            <p:spPr>
              <a:xfrm>
                <a:off x="251520" y="188640"/>
                <a:ext cx="8712968" cy="6462736"/>
              </a:xfrm>
              <a:prstGeom prst="rect">
                <a:avLst/>
              </a:prstGeom>
              <a:ln w="76200">
                <a:solidFill>
                  <a:srgbClr val="DE6522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endParaRPr lang="ru-RU" sz="2800" b="1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8" name="Прямоугольник 7"/>
              <p:cNvSpPr/>
              <p:nvPr/>
            </p:nvSpPr>
            <p:spPr>
              <a:xfrm>
                <a:off x="251520" y="188640"/>
                <a:ext cx="8640960" cy="872480"/>
              </a:xfrm>
              <a:prstGeom prst="rect">
                <a:avLst/>
              </a:prstGeom>
              <a:solidFill>
                <a:srgbClr val="DE6522"/>
              </a:solidFill>
              <a:ln w="76200">
                <a:solidFill>
                  <a:srgbClr val="DE6522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endParaRPr lang="ru-RU" sz="16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5" name="Группа 4"/>
            <p:cNvGrpSpPr/>
            <p:nvPr/>
          </p:nvGrpSpPr>
          <p:grpSpPr>
            <a:xfrm>
              <a:off x="5220072" y="188640"/>
              <a:ext cx="3672408" cy="792088"/>
              <a:chOff x="2843808" y="5033185"/>
              <a:chExt cx="5688632" cy="108012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6" name="Прямоугольник 5"/>
              <p:cNvSpPr/>
              <p:nvPr/>
            </p:nvSpPr>
            <p:spPr>
              <a:xfrm>
                <a:off x="2843808" y="5033185"/>
                <a:ext cx="5688632" cy="108012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pic>
            <p:nvPicPr>
              <p:cNvPr id="7" name="Рисунок 6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59832" y="5157192"/>
                <a:ext cx="5154178" cy="832106"/>
              </a:xfrm>
              <a:prstGeom prst="rect">
                <a:avLst/>
              </a:prstGeom>
            </p:spPr>
          </p:pic>
        </p:grpSp>
      </p:grp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3A3A5-6838-4BA8-BE42-EBE612759A09}" type="slidenum">
              <a:rPr lang="ru-RU" smtClean="0"/>
              <a:pPr/>
              <a:t>3</a:t>
            </a:fld>
            <a:endParaRPr lang="ru-RU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6303713"/>
            <a:ext cx="7005637" cy="347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Прямоугольник 17"/>
          <p:cNvSpPr/>
          <p:nvPr/>
        </p:nvSpPr>
        <p:spPr>
          <a:xfrm>
            <a:off x="361280" y="440214"/>
            <a:ext cx="47525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Реляционная модель БД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261B3F8A-9EC5-47EA-BDA4-52BBE67B6B64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420488" y="1312694"/>
            <a:ext cx="8266312" cy="3971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254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Группа 16"/>
          <p:cNvGrpSpPr/>
          <p:nvPr/>
        </p:nvGrpSpPr>
        <p:grpSpPr>
          <a:xfrm>
            <a:off x="251520" y="188640"/>
            <a:ext cx="8712968" cy="6462736"/>
            <a:chOff x="251520" y="188640"/>
            <a:chExt cx="8712968" cy="6462736"/>
          </a:xfrm>
        </p:grpSpPr>
        <p:grpSp>
          <p:nvGrpSpPr>
            <p:cNvPr id="16" name="Группа 15"/>
            <p:cNvGrpSpPr/>
            <p:nvPr/>
          </p:nvGrpSpPr>
          <p:grpSpPr>
            <a:xfrm>
              <a:off x="251520" y="188640"/>
              <a:ext cx="8712968" cy="6462736"/>
              <a:chOff x="251520" y="188640"/>
              <a:chExt cx="8712968" cy="6462736"/>
            </a:xfrm>
          </p:grpSpPr>
          <p:sp>
            <p:nvSpPr>
              <p:cNvPr id="4" name="Прямоугольник 3"/>
              <p:cNvSpPr/>
              <p:nvPr/>
            </p:nvSpPr>
            <p:spPr>
              <a:xfrm>
                <a:off x="251520" y="188640"/>
                <a:ext cx="8712968" cy="6462736"/>
              </a:xfrm>
              <a:prstGeom prst="rect">
                <a:avLst/>
              </a:prstGeom>
              <a:ln w="76200">
                <a:solidFill>
                  <a:srgbClr val="DE6522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endParaRPr lang="ru-RU" sz="2800" b="1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8" name="Прямоугольник 7"/>
              <p:cNvSpPr/>
              <p:nvPr/>
            </p:nvSpPr>
            <p:spPr>
              <a:xfrm>
                <a:off x="251520" y="188640"/>
                <a:ext cx="8640960" cy="872480"/>
              </a:xfrm>
              <a:prstGeom prst="rect">
                <a:avLst/>
              </a:prstGeom>
              <a:solidFill>
                <a:srgbClr val="DE6522"/>
              </a:solidFill>
              <a:ln w="76200">
                <a:solidFill>
                  <a:srgbClr val="DE6522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endParaRPr lang="ru-RU" sz="16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5" name="Группа 4"/>
            <p:cNvGrpSpPr/>
            <p:nvPr/>
          </p:nvGrpSpPr>
          <p:grpSpPr>
            <a:xfrm>
              <a:off x="5220072" y="188640"/>
              <a:ext cx="3672408" cy="792088"/>
              <a:chOff x="2843808" y="5033185"/>
              <a:chExt cx="5688632" cy="108012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6" name="Прямоугольник 5"/>
              <p:cNvSpPr/>
              <p:nvPr/>
            </p:nvSpPr>
            <p:spPr>
              <a:xfrm>
                <a:off x="2843808" y="5033185"/>
                <a:ext cx="5688632" cy="108012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pic>
            <p:nvPicPr>
              <p:cNvPr id="7" name="Рисунок 6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59832" y="5157192"/>
                <a:ext cx="5154178" cy="832106"/>
              </a:xfrm>
              <a:prstGeom prst="rect">
                <a:avLst/>
              </a:prstGeom>
            </p:spPr>
          </p:pic>
        </p:grpSp>
      </p:grp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3A3A5-6838-4BA8-BE42-EBE612759A09}" type="slidenum">
              <a:rPr lang="ru-RU" smtClean="0"/>
              <a:pPr/>
              <a:t>4</a:t>
            </a:fld>
            <a:endParaRPr lang="ru-RU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6303713"/>
            <a:ext cx="7005637" cy="347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Прямоугольник 17"/>
          <p:cNvSpPr/>
          <p:nvPr/>
        </p:nvSpPr>
        <p:spPr>
          <a:xfrm>
            <a:off x="266976" y="400017"/>
            <a:ext cx="47525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Таблицы и связи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D7424FF5-9C6E-432B-9581-7C4A56D375F7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420598" y="1700808"/>
            <a:ext cx="8302803" cy="3240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894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Группа 16"/>
          <p:cNvGrpSpPr/>
          <p:nvPr/>
        </p:nvGrpSpPr>
        <p:grpSpPr>
          <a:xfrm>
            <a:off x="251520" y="188640"/>
            <a:ext cx="8712968" cy="6462736"/>
            <a:chOff x="251520" y="188640"/>
            <a:chExt cx="8712968" cy="6462736"/>
          </a:xfrm>
        </p:grpSpPr>
        <p:grpSp>
          <p:nvGrpSpPr>
            <p:cNvPr id="16" name="Группа 15"/>
            <p:cNvGrpSpPr/>
            <p:nvPr/>
          </p:nvGrpSpPr>
          <p:grpSpPr>
            <a:xfrm>
              <a:off x="251520" y="188640"/>
              <a:ext cx="8712968" cy="6462736"/>
              <a:chOff x="251520" y="188640"/>
              <a:chExt cx="8712968" cy="6462736"/>
            </a:xfrm>
          </p:grpSpPr>
          <p:sp>
            <p:nvSpPr>
              <p:cNvPr id="4" name="Прямоугольник 3"/>
              <p:cNvSpPr/>
              <p:nvPr/>
            </p:nvSpPr>
            <p:spPr>
              <a:xfrm>
                <a:off x="251520" y="188640"/>
                <a:ext cx="8712968" cy="6462736"/>
              </a:xfrm>
              <a:prstGeom prst="rect">
                <a:avLst/>
              </a:prstGeom>
              <a:ln w="76200">
                <a:solidFill>
                  <a:srgbClr val="DE6522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endParaRPr lang="ru-RU" sz="2800" b="1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8" name="Прямоугольник 7"/>
              <p:cNvSpPr/>
              <p:nvPr/>
            </p:nvSpPr>
            <p:spPr>
              <a:xfrm>
                <a:off x="251520" y="188640"/>
                <a:ext cx="8640960" cy="872480"/>
              </a:xfrm>
              <a:prstGeom prst="rect">
                <a:avLst/>
              </a:prstGeom>
              <a:solidFill>
                <a:srgbClr val="DE6522"/>
              </a:solidFill>
              <a:ln w="76200">
                <a:solidFill>
                  <a:srgbClr val="DE6522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endParaRPr lang="ru-RU" sz="16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5" name="Группа 4"/>
            <p:cNvGrpSpPr/>
            <p:nvPr/>
          </p:nvGrpSpPr>
          <p:grpSpPr>
            <a:xfrm>
              <a:off x="5220072" y="188640"/>
              <a:ext cx="3672408" cy="792088"/>
              <a:chOff x="2843808" y="5033185"/>
              <a:chExt cx="5688632" cy="108012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6" name="Прямоугольник 5"/>
              <p:cNvSpPr/>
              <p:nvPr/>
            </p:nvSpPr>
            <p:spPr>
              <a:xfrm>
                <a:off x="2843808" y="5033185"/>
                <a:ext cx="5688632" cy="108012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pic>
            <p:nvPicPr>
              <p:cNvPr id="7" name="Рисунок 6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59832" y="5157192"/>
                <a:ext cx="5154178" cy="832106"/>
              </a:xfrm>
              <a:prstGeom prst="rect">
                <a:avLst/>
              </a:prstGeom>
            </p:spPr>
          </p:pic>
        </p:grpSp>
      </p:grp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3A3A5-6838-4BA8-BE42-EBE612759A09}" type="slidenum">
              <a:rPr lang="ru-RU" smtClean="0"/>
              <a:pPr/>
              <a:t>5</a:t>
            </a:fld>
            <a:endParaRPr lang="ru-RU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6303713"/>
            <a:ext cx="7005637" cy="347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Прямоугольник 17"/>
          <p:cNvSpPr/>
          <p:nvPr/>
        </p:nvSpPr>
        <p:spPr>
          <a:xfrm>
            <a:off x="261976" y="309722"/>
            <a:ext cx="47525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Наполнение таблиц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24622B00-FBE1-454D-9D40-D0BCA88E97C7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813324" y="1216962"/>
            <a:ext cx="7517352" cy="4757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635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16"/>
          <p:cNvGrpSpPr/>
          <p:nvPr/>
        </p:nvGrpSpPr>
        <p:grpSpPr>
          <a:xfrm>
            <a:off x="218736" y="227859"/>
            <a:ext cx="8712968" cy="6462736"/>
            <a:chOff x="251520" y="188640"/>
            <a:chExt cx="8712968" cy="6462736"/>
          </a:xfrm>
        </p:grpSpPr>
        <p:grpSp>
          <p:nvGrpSpPr>
            <p:cNvPr id="5" name="Группа 15"/>
            <p:cNvGrpSpPr/>
            <p:nvPr/>
          </p:nvGrpSpPr>
          <p:grpSpPr>
            <a:xfrm>
              <a:off x="251520" y="188640"/>
              <a:ext cx="8712968" cy="6462736"/>
              <a:chOff x="251520" y="188640"/>
              <a:chExt cx="8712968" cy="6462736"/>
            </a:xfrm>
          </p:grpSpPr>
          <p:sp>
            <p:nvSpPr>
              <p:cNvPr id="4" name="Прямоугольник 3"/>
              <p:cNvSpPr/>
              <p:nvPr/>
            </p:nvSpPr>
            <p:spPr>
              <a:xfrm>
                <a:off x="251520" y="188640"/>
                <a:ext cx="8712968" cy="6462736"/>
              </a:xfrm>
              <a:prstGeom prst="rect">
                <a:avLst/>
              </a:prstGeom>
              <a:ln w="76200">
                <a:solidFill>
                  <a:srgbClr val="DE6522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endParaRPr lang="ru-RU" sz="2800" b="1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8" name="Прямоугольник 7"/>
              <p:cNvSpPr/>
              <p:nvPr/>
            </p:nvSpPr>
            <p:spPr>
              <a:xfrm>
                <a:off x="251520" y="188640"/>
                <a:ext cx="8640960" cy="872480"/>
              </a:xfrm>
              <a:prstGeom prst="rect">
                <a:avLst/>
              </a:prstGeom>
              <a:solidFill>
                <a:srgbClr val="DE6522"/>
              </a:solidFill>
              <a:ln w="76200">
                <a:solidFill>
                  <a:srgbClr val="DE6522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endParaRPr lang="ru-RU" sz="16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9" name="Группа 4"/>
            <p:cNvGrpSpPr/>
            <p:nvPr/>
          </p:nvGrpSpPr>
          <p:grpSpPr>
            <a:xfrm>
              <a:off x="5220072" y="188640"/>
              <a:ext cx="3672408" cy="792088"/>
              <a:chOff x="2843808" y="5033185"/>
              <a:chExt cx="5688632" cy="108012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6" name="Прямоугольник 5"/>
              <p:cNvSpPr/>
              <p:nvPr/>
            </p:nvSpPr>
            <p:spPr>
              <a:xfrm>
                <a:off x="2843808" y="5033185"/>
                <a:ext cx="5688632" cy="108012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pic>
            <p:nvPicPr>
              <p:cNvPr id="7" name="Рисунок 6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59832" y="5157192"/>
                <a:ext cx="5154178" cy="832106"/>
              </a:xfrm>
              <a:prstGeom prst="rect">
                <a:avLst/>
              </a:prstGeom>
            </p:spPr>
          </p:pic>
        </p:grpSp>
      </p:grp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3A3A5-6838-4BA8-BE42-EBE612759A09}" type="slidenum">
              <a:rPr lang="ru-RU" smtClean="0"/>
              <a:pPr/>
              <a:t>6</a:t>
            </a:fld>
            <a:endParaRPr lang="ru-RU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6303713"/>
            <a:ext cx="7005637" cy="347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Прямоугольник 17"/>
          <p:cNvSpPr/>
          <p:nvPr/>
        </p:nvSpPr>
        <p:spPr>
          <a:xfrm>
            <a:off x="212296" y="400017"/>
            <a:ext cx="47525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Форма входа в приложение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AEC2C2F-8772-4A11-83BB-1BC171BED73A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755576" y="1360470"/>
            <a:ext cx="3028950" cy="398526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FFE67A26-0AC2-465B-BA27-E120D6711057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5371622" y="2408448"/>
            <a:ext cx="2447925" cy="14478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EDF3273-4C11-4C06-8DBD-6B80ADE22F6B}"/>
              </a:ext>
            </a:extLst>
          </p:cNvPr>
          <p:cNvSpPr txBox="1"/>
          <p:nvPr/>
        </p:nvSpPr>
        <p:spPr>
          <a:xfrm>
            <a:off x="755576" y="5445224"/>
            <a:ext cx="3028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/>
              <a:t>Форма входа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33B7CD-8BE4-4670-82D3-72185E3FE32B}"/>
              </a:ext>
            </a:extLst>
          </p:cNvPr>
          <p:cNvSpPr txBox="1"/>
          <p:nvPr/>
        </p:nvSpPr>
        <p:spPr>
          <a:xfrm>
            <a:off x="5152640" y="3976073"/>
            <a:ext cx="30289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/>
              <a:t>Сообщение в случае ошибки в логине или пароле</a:t>
            </a:r>
          </a:p>
        </p:txBody>
      </p:sp>
    </p:spTree>
    <p:extLst>
      <p:ext uri="{BB962C8B-B14F-4D97-AF65-F5344CB8AC3E}">
        <p14:creationId xmlns:p14="http://schemas.microsoft.com/office/powerpoint/2010/main" val="91734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3A3A5-6838-4BA8-BE42-EBE612759A09}" type="slidenum">
              <a:rPr lang="ru-RU" smtClean="0"/>
              <a:pPr/>
              <a:t>7</a:t>
            </a:fld>
            <a:endParaRPr lang="ru-RU"/>
          </a:p>
        </p:txBody>
      </p:sp>
      <p:grpSp>
        <p:nvGrpSpPr>
          <p:cNvPr id="6" name="Группа 16"/>
          <p:cNvGrpSpPr/>
          <p:nvPr/>
        </p:nvGrpSpPr>
        <p:grpSpPr>
          <a:xfrm>
            <a:off x="251520" y="188640"/>
            <a:ext cx="8712968" cy="6462736"/>
            <a:chOff x="251520" y="188640"/>
            <a:chExt cx="8712968" cy="6462736"/>
          </a:xfrm>
        </p:grpSpPr>
        <p:grpSp>
          <p:nvGrpSpPr>
            <p:cNvPr id="7" name="Группа 15"/>
            <p:cNvGrpSpPr/>
            <p:nvPr/>
          </p:nvGrpSpPr>
          <p:grpSpPr>
            <a:xfrm>
              <a:off x="251520" y="188640"/>
              <a:ext cx="8712968" cy="6462736"/>
              <a:chOff x="251520" y="188640"/>
              <a:chExt cx="8712968" cy="6462736"/>
            </a:xfrm>
          </p:grpSpPr>
          <p:sp>
            <p:nvSpPr>
              <p:cNvPr id="11" name="Прямоугольник 10"/>
              <p:cNvSpPr/>
              <p:nvPr/>
            </p:nvSpPr>
            <p:spPr>
              <a:xfrm>
                <a:off x="251520" y="188640"/>
                <a:ext cx="8712968" cy="6462736"/>
              </a:xfrm>
              <a:prstGeom prst="rect">
                <a:avLst/>
              </a:prstGeom>
              <a:ln w="76200">
                <a:solidFill>
                  <a:srgbClr val="DE6522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endParaRPr lang="ru-RU" sz="2800" b="1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2" name="Прямоугольник 11"/>
              <p:cNvSpPr/>
              <p:nvPr/>
            </p:nvSpPr>
            <p:spPr>
              <a:xfrm>
                <a:off x="251520" y="188640"/>
                <a:ext cx="8640960" cy="872480"/>
              </a:xfrm>
              <a:prstGeom prst="rect">
                <a:avLst/>
              </a:prstGeom>
              <a:solidFill>
                <a:srgbClr val="DE6522"/>
              </a:solidFill>
              <a:ln w="76200">
                <a:solidFill>
                  <a:srgbClr val="DE6522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endParaRPr lang="ru-RU" sz="16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8" name="Группа 4"/>
            <p:cNvGrpSpPr/>
            <p:nvPr/>
          </p:nvGrpSpPr>
          <p:grpSpPr>
            <a:xfrm>
              <a:off x="5220072" y="188640"/>
              <a:ext cx="3672408" cy="792088"/>
              <a:chOff x="2843808" y="5033185"/>
              <a:chExt cx="5688632" cy="108012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9" name="Прямоугольник 8"/>
              <p:cNvSpPr/>
              <p:nvPr/>
            </p:nvSpPr>
            <p:spPr>
              <a:xfrm>
                <a:off x="2843808" y="5033185"/>
                <a:ext cx="5688632" cy="108012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pic>
            <p:nvPicPr>
              <p:cNvPr id="10" name="Рисунок 9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59832" y="5157192"/>
                <a:ext cx="5154178" cy="832106"/>
              </a:xfrm>
              <a:prstGeom prst="rect">
                <a:avLst/>
              </a:prstGeom>
            </p:spPr>
          </p:pic>
        </p:grp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5C38B37C-454A-404F-B13C-E06E9FED893B}"/>
              </a:ext>
            </a:extLst>
          </p:cNvPr>
          <p:cNvSpPr txBox="1"/>
          <p:nvPr/>
        </p:nvSpPr>
        <p:spPr>
          <a:xfrm>
            <a:off x="467544" y="5408115"/>
            <a:ext cx="3958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/>
              <a:t>Форма администратора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A3191C-C80E-407B-9E51-1A48A075135A}"/>
              </a:ext>
            </a:extLst>
          </p:cNvPr>
          <p:cNvSpPr txBox="1"/>
          <p:nvPr/>
        </p:nvSpPr>
        <p:spPr>
          <a:xfrm>
            <a:off x="4718291" y="5413952"/>
            <a:ext cx="4035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/>
              <a:t>Форма обычного пользователя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330FC0C9-698F-42FF-B7BC-38E1DB02A25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718290" y="1634186"/>
            <a:ext cx="4035843" cy="3499382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C97D08AB-D45C-4957-8B92-FBF86C438720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445212" y="1634186"/>
            <a:ext cx="4090931" cy="3499382"/>
          </a:xfrm>
          <a:prstGeom prst="rect">
            <a:avLst/>
          </a:prstGeom>
        </p:spPr>
      </p:pic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19B0C226-C01B-4372-942E-D03075D62173}"/>
              </a:ext>
            </a:extLst>
          </p:cNvPr>
          <p:cNvSpPr/>
          <p:nvPr/>
        </p:nvSpPr>
        <p:spPr>
          <a:xfrm>
            <a:off x="212296" y="400017"/>
            <a:ext cx="47525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Форма администратора и пользователя</a:t>
            </a:r>
          </a:p>
        </p:txBody>
      </p:sp>
    </p:spTree>
    <p:extLst>
      <p:ext uri="{BB962C8B-B14F-4D97-AF65-F5344CB8AC3E}">
        <p14:creationId xmlns:p14="http://schemas.microsoft.com/office/powerpoint/2010/main" val="16028503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3A3A5-6838-4BA8-BE42-EBE612759A09}" type="slidenum">
              <a:rPr lang="ru-RU" smtClean="0"/>
              <a:pPr/>
              <a:t>8</a:t>
            </a:fld>
            <a:endParaRPr lang="ru-RU"/>
          </a:p>
        </p:txBody>
      </p:sp>
      <p:grpSp>
        <p:nvGrpSpPr>
          <p:cNvPr id="6" name="Группа 16"/>
          <p:cNvGrpSpPr/>
          <p:nvPr/>
        </p:nvGrpSpPr>
        <p:grpSpPr>
          <a:xfrm>
            <a:off x="251520" y="188640"/>
            <a:ext cx="8712968" cy="6462736"/>
            <a:chOff x="251520" y="188640"/>
            <a:chExt cx="8712968" cy="6462736"/>
          </a:xfrm>
        </p:grpSpPr>
        <p:grpSp>
          <p:nvGrpSpPr>
            <p:cNvPr id="7" name="Группа 15"/>
            <p:cNvGrpSpPr/>
            <p:nvPr/>
          </p:nvGrpSpPr>
          <p:grpSpPr>
            <a:xfrm>
              <a:off x="251520" y="188640"/>
              <a:ext cx="8712968" cy="6462736"/>
              <a:chOff x="251520" y="188640"/>
              <a:chExt cx="8712968" cy="6462736"/>
            </a:xfrm>
          </p:grpSpPr>
          <p:sp>
            <p:nvSpPr>
              <p:cNvPr id="11" name="Прямоугольник 10"/>
              <p:cNvSpPr/>
              <p:nvPr/>
            </p:nvSpPr>
            <p:spPr>
              <a:xfrm>
                <a:off x="251520" y="188640"/>
                <a:ext cx="8712968" cy="6462736"/>
              </a:xfrm>
              <a:prstGeom prst="rect">
                <a:avLst/>
              </a:prstGeom>
              <a:ln w="76200">
                <a:solidFill>
                  <a:srgbClr val="DE6522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endParaRPr lang="ru-RU" sz="2800" b="1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2" name="Прямоугольник 11"/>
              <p:cNvSpPr/>
              <p:nvPr/>
            </p:nvSpPr>
            <p:spPr>
              <a:xfrm>
                <a:off x="251520" y="188640"/>
                <a:ext cx="8640960" cy="872480"/>
              </a:xfrm>
              <a:prstGeom prst="rect">
                <a:avLst/>
              </a:prstGeom>
              <a:solidFill>
                <a:srgbClr val="DE6522"/>
              </a:solidFill>
              <a:ln w="76200">
                <a:solidFill>
                  <a:srgbClr val="DE6522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endParaRPr lang="ru-RU" sz="16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8" name="Группа 4"/>
            <p:cNvGrpSpPr/>
            <p:nvPr/>
          </p:nvGrpSpPr>
          <p:grpSpPr>
            <a:xfrm>
              <a:off x="5220072" y="188640"/>
              <a:ext cx="3672408" cy="792088"/>
              <a:chOff x="2843808" y="5033185"/>
              <a:chExt cx="5688632" cy="108012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9" name="Прямоугольник 8"/>
              <p:cNvSpPr/>
              <p:nvPr/>
            </p:nvSpPr>
            <p:spPr>
              <a:xfrm>
                <a:off x="2843808" y="5033185"/>
                <a:ext cx="5688632" cy="108012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pic>
            <p:nvPicPr>
              <p:cNvPr id="10" name="Рисунок 9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59832" y="5157192"/>
                <a:ext cx="5154178" cy="832106"/>
              </a:xfrm>
              <a:prstGeom prst="rect">
                <a:avLst/>
              </a:prstGeom>
            </p:spPr>
          </p:pic>
        </p:grpSp>
      </p:grp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19B0C226-C01B-4372-942E-D03075D62173}"/>
              </a:ext>
            </a:extLst>
          </p:cNvPr>
          <p:cNvSpPr/>
          <p:nvPr/>
        </p:nvSpPr>
        <p:spPr>
          <a:xfrm>
            <a:off x="212296" y="400017"/>
            <a:ext cx="47525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Функция поиска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FF30AA-9FB2-4CBE-850E-C1ED97CF7E11}"/>
              </a:ext>
            </a:extLst>
          </p:cNvPr>
          <p:cNvSpPr txBox="1"/>
          <p:nvPr/>
        </p:nvSpPr>
        <p:spPr>
          <a:xfrm>
            <a:off x="3167843" y="5439537"/>
            <a:ext cx="2808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/>
              <a:t>Поиск по одному условию</a:t>
            </a: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AEB45ED6-9E46-4F8F-9ADA-48EE43A89E4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170112" y="1352391"/>
            <a:ext cx="4803775" cy="3994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371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3A3A5-6838-4BA8-BE42-EBE612759A09}" type="slidenum">
              <a:rPr lang="ru-RU" smtClean="0"/>
              <a:pPr/>
              <a:t>9</a:t>
            </a:fld>
            <a:endParaRPr lang="ru-RU"/>
          </a:p>
        </p:txBody>
      </p:sp>
      <p:grpSp>
        <p:nvGrpSpPr>
          <p:cNvPr id="6" name="Группа 16"/>
          <p:cNvGrpSpPr/>
          <p:nvPr/>
        </p:nvGrpSpPr>
        <p:grpSpPr>
          <a:xfrm>
            <a:off x="251520" y="188640"/>
            <a:ext cx="8712968" cy="6462736"/>
            <a:chOff x="251520" y="188640"/>
            <a:chExt cx="8712968" cy="6462736"/>
          </a:xfrm>
        </p:grpSpPr>
        <p:grpSp>
          <p:nvGrpSpPr>
            <p:cNvPr id="7" name="Группа 15"/>
            <p:cNvGrpSpPr/>
            <p:nvPr/>
          </p:nvGrpSpPr>
          <p:grpSpPr>
            <a:xfrm>
              <a:off x="251520" y="188640"/>
              <a:ext cx="8712968" cy="6462736"/>
              <a:chOff x="251520" y="188640"/>
              <a:chExt cx="8712968" cy="6462736"/>
            </a:xfrm>
          </p:grpSpPr>
          <p:sp>
            <p:nvSpPr>
              <p:cNvPr id="11" name="Прямоугольник 10"/>
              <p:cNvSpPr/>
              <p:nvPr/>
            </p:nvSpPr>
            <p:spPr>
              <a:xfrm>
                <a:off x="251520" y="188640"/>
                <a:ext cx="8712968" cy="6462736"/>
              </a:xfrm>
              <a:prstGeom prst="rect">
                <a:avLst/>
              </a:prstGeom>
              <a:ln w="76200">
                <a:solidFill>
                  <a:srgbClr val="DE6522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endParaRPr lang="ru-RU" sz="2800" b="1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2" name="Прямоугольник 11"/>
              <p:cNvSpPr/>
              <p:nvPr/>
            </p:nvSpPr>
            <p:spPr>
              <a:xfrm>
                <a:off x="251520" y="188640"/>
                <a:ext cx="8640960" cy="872480"/>
              </a:xfrm>
              <a:prstGeom prst="rect">
                <a:avLst/>
              </a:prstGeom>
              <a:solidFill>
                <a:srgbClr val="DE6522"/>
              </a:solidFill>
              <a:ln w="76200">
                <a:solidFill>
                  <a:srgbClr val="DE6522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endParaRPr lang="ru-RU" sz="16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8" name="Группа 4"/>
            <p:cNvGrpSpPr/>
            <p:nvPr/>
          </p:nvGrpSpPr>
          <p:grpSpPr>
            <a:xfrm>
              <a:off x="5220072" y="188640"/>
              <a:ext cx="3672408" cy="792088"/>
              <a:chOff x="2843808" y="5033185"/>
              <a:chExt cx="5688632" cy="108012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9" name="Прямоугольник 8"/>
              <p:cNvSpPr/>
              <p:nvPr/>
            </p:nvSpPr>
            <p:spPr>
              <a:xfrm>
                <a:off x="2843808" y="5033185"/>
                <a:ext cx="5688632" cy="108012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pic>
            <p:nvPicPr>
              <p:cNvPr id="10" name="Рисунок 9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59832" y="5157192"/>
                <a:ext cx="5154178" cy="832106"/>
              </a:xfrm>
              <a:prstGeom prst="rect">
                <a:avLst/>
              </a:prstGeom>
            </p:spPr>
          </p:pic>
        </p:grpSp>
      </p:grp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19B0C226-C01B-4372-942E-D03075D62173}"/>
              </a:ext>
            </a:extLst>
          </p:cNvPr>
          <p:cNvSpPr/>
          <p:nvPr/>
        </p:nvSpPr>
        <p:spPr>
          <a:xfrm>
            <a:off x="212296" y="400017"/>
            <a:ext cx="47525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Функция поиска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FF30AA-9FB2-4CBE-850E-C1ED97CF7E11}"/>
              </a:ext>
            </a:extLst>
          </p:cNvPr>
          <p:cNvSpPr txBox="1"/>
          <p:nvPr/>
        </p:nvSpPr>
        <p:spPr>
          <a:xfrm>
            <a:off x="3167843" y="5439537"/>
            <a:ext cx="2808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/>
              <a:t>Поиск по двум условиям с «И»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E34A183-C06B-4F51-841D-EF71118C6D9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194864" y="1272497"/>
            <a:ext cx="4754272" cy="3953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6679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3A3A5-6838-4BA8-BE42-EBE612759A09}" type="slidenum">
              <a:rPr lang="ru-RU" smtClean="0"/>
              <a:pPr/>
              <a:t>10</a:t>
            </a:fld>
            <a:endParaRPr lang="ru-RU"/>
          </a:p>
        </p:txBody>
      </p:sp>
      <p:grpSp>
        <p:nvGrpSpPr>
          <p:cNvPr id="6" name="Группа 16"/>
          <p:cNvGrpSpPr/>
          <p:nvPr/>
        </p:nvGrpSpPr>
        <p:grpSpPr>
          <a:xfrm>
            <a:off x="251520" y="188640"/>
            <a:ext cx="8712968" cy="6462736"/>
            <a:chOff x="251520" y="188640"/>
            <a:chExt cx="8712968" cy="6462736"/>
          </a:xfrm>
        </p:grpSpPr>
        <p:grpSp>
          <p:nvGrpSpPr>
            <p:cNvPr id="7" name="Группа 15"/>
            <p:cNvGrpSpPr/>
            <p:nvPr/>
          </p:nvGrpSpPr>
          <p:grpSpPr>
            <a:xfrm>
              <a:off x="251520" y="188640"/>
              <a:ext cx="8712968" cy="6462736"/>
              <a:chOff x="251520" y="188640"/>
              <a:chExt cx="8712968" cy="6462736"/>
            </a:xfrm>
          </p:grpSpPr>
          <p:sp>
            <p:nvSpPr>
              <p:cNvPr id="11" name="Прямоугольник 10"/>
              <p:cNvSpPr/>
              <p:nvPr/>
            </p:nvSpPr>
            <p:spPr>
              <a:xfrm>
                <a:off x="251520" y="188640"/>
                <a:ext cx="8712968" cy="6462736"/>
              </a:xfrm>
              <a:prstGeom prst="rect">
                <a:avLst/>
              </a:prstGeom>
              <a:ln w="76200">
                <a:solidFill>
                  <a:srgbClr val="DE6522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endParaRPr lang="ru-RU" sz="2800" b="1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2" name="Прямоугольник 11"/>
              <p:cNvSpPr/>
              <p:nvPr/>
            </p:nvSpPr>
            <p:spPr>
              <a:xfrm>
                <a:off x="251520" y="188640"/>
                <a:ext cx="8640960" cy="872480"/>
              </a:xfrm>
              <a:prstGeom prst="rect">
                <a:avLst/>
              </a:prstGeom>
              <a:solidFill>
                <a:srgbClr val="DE6522"/>
              </a:solidFill>
              <a:ln w="76200">
                <a:solidFill>
                  <a:srgbClr val="DE6522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endParaRPr lang="ru-RU" sz="16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8" name="Группа 4"/>
            <p:cNvGrpSpPr/>
            <p:nvPr/>
          </p:nvGrpSpPr>
          <p:grpSpPr>
            <a:xfrm>
              <a:off x="5220072" y="188640"/>
              <a:ext cx="3672408" cy="792088"/>
              <a:chOff x="2843808" y="5033185"/>
              <a:chExt cx="5688632" cy="108012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9" name="Прямоугольник 8"/>
              <p:cNvSpPr/>
              <p:nvPr/>
            </p:nvSpPr>
            <p:spPr>
              <a:xfrm>
                <a:off x="2843808" y="5033185"/>
                <a:ext cx="5688632" cy="108012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pic>
            <p:nvPicPr>
              <p:cNvPr id="10" name="Рисунок 9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59832" y="5157192"/>
                <a:ext cx="5154178" cy="832106"/>
              </a:xfrm>
              <a:prstGeom prst="rect">
                <a:avLst/>
              </a:prstGeom>
            </p:spPr>
          </p:pic>
        </p:grpSp>
      </p:grp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19B0C226-C01B-4372-942E-D03075D62173}"/>
              </a:ext>
            </a:extLst>
          </p:cNvPr>
          <p:cNvSpPr/>
          <p:nvPr/>
        </p:nvSpPr>
        <p:spPr>
          <a:xfrm>
            <a:off x="212296" y="400017"/>
            <a:ext cx="47525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Функция поиска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FF30AA-9FB2-4CBE-850E-C1ED97CF7E11}"/>
              </a:ext>
            </a:extLst>
          </p:cNvPr>
          <p:cNvSpPr txBox="1"/>
          <p:nvPr/>
        </p:nvSpPr>
        <p:spPr>
          <a:xfrm>
            <a:off x="3167843" y="5439537"/>
            <a:ext cx="2808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/>
              <a:t>Поиск по двум условиям с «ИЛИ»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E2B2F31-FCF2-41EF-A187-346BB31D561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066248" y="1180310"/>
            <a:ext cx="5011504" cy="4167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8802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3A3A5-6838-4BA8-BE42-EBE612759A09}" type="slidenum">
              <a:rPr lang="ru-RU" smtClean="0"/>
              <a:pPr/>
              <a:t>11</a:t>
            </a:fld>
            <a:endParaRPr lang="ru-RU"/>
          </a:p>
        </p:txBody>
      </p:sp>
      <p:grpSp>
        <p:nvGrpSpPr>
          <p:cNvPr id="6" name="Группа 16"/>
          <p:cNvGrpSpPr/>
          <p:nvPr/>
        </p:nvGrpSpPr>
        <p:grpSpPr>
          <a:xfrm>
            <a:off x="251520" y="188640"/>
            <a:ext cx="8712968" cy="6462736"/>
            <a:chOff x="251520" y="188640"/>
            <a:chExt cx="8712968" cy="6462736"/>
          </a:xfrm>
        </p:grpSpPr>
        <p:grpSp>
          <p:nvGrpSpPr>
            <p:cNvPr id="7" name="Группа 15"/>
            <p:cNvGrpSpPr/>
            <p:nvPr/>
          </p:nvGrpSpPr>
          <p:grpSpPr>
            <a:xfrm>
              <a:off x="251520" y="188640"/>
              <a:ext cx="8712968" cy="6462736"/>
              <a:chOff x="251520" y="188640"/>
              <a:chExt cx="8712968" cy="6462736"/>
            </a:xfrm>
          </p:grpSpPr>
          <p:sp>
            <p:nvSpPr>
              <p:cNvPr id="11" name="Прямоугольник 10"/>
              <p:cNvSpPr/>
              <p:nvPr/>
            </p:nvSpPr>
            <p:spPr>
              <a:xfrm>
                <a:off x="251520" y="188640"/>
                <a:ext cx="8712968" cy="6462736"/>
              </a:xfrm>
              <a:prstGeom prst="rect">
                <a:avLst/>
              </a:prstGeom>
              <a:ln w="76200">
                <a:solidFill>
                  <a:srgbClr val="DE6522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endParaRPr lang="ru-RU" sz="2800" b="1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2" name="Прямоугольник 11"/>
              <p:cNvSpPr/>
              <p:nvPr/>
            </p:nvSpPr>
            <p:spPr>
              <a:xfrm>
                <a:off x="251520" y="188640"/>
                <a:ext cx="8640960" cy="872480"/>
              </a:xfrm>
              <a:prstGeom prst="rect">
                <a:avLst/>
              </a:prstGeom>
              <a:solidFill>
                <a:srgbClr val="DE6522"/>
              </a:solidFill>
              <a:ln w="76200">
                <a:solidFill>
                  <a:srgbClr val="DE6522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endParaRPr lang="ru-RU" sz="16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8" name="Группа 4"/>
            <p:cNvGrpSpPr/>
            <p:nvPr/>
          </p:nvGrpSpPr>
          <p:grpSpPr>
            <a:xfrm>
              <a:off x="5220072" y="188640"/>
              <a:ext cx="3672408" cy="792088"/>
              <a:chOff x="2843808" y="5033185"/>
              <a:chExt cx="5688632" cy="108012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9" name="Прямоугольник 8"/>
              <p:cNvSpPr/>
              <p:nvPr/>
            </p:nvSpPr>
            <p:spPr>
              <a:xfrm>
                <a:off x="2843808" y="5033185"/>
                <a:ext cx="5688632" cy="108012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pic>
            <p:nvPicPr>
              <p:cNvPr id="10" name="Рисунок 9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59832" y="5157192"/>
                <a:ext cx="5154178" cy="832106"/>
              </a:xfrm>
              <a:prstGeom prst="rect">
                <a:avLst/>
              </a:prstGeom>
            </p:spPr>
          </p:pic>
        </p:grpSp>
      </p:grp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19B0C226-C01B-4372-942E-D03075D62173}"/>
              </a:ext>
            </a:extLst>
          </p:cNvPr>
          <p:cNvSpPr/>
          <p:nvPr/>
        </p:nvSpPr>
        <p:spPr>
          <a:xfrm>
            <a:off x="212296" y="400017"/>
            <a:ext cx="47525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Генерация отчета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FF30AA-9FB2-4CBE-850E-C1ED97CF7E11}"/>
              </a:ext>
            </a:extLst>
          </p:cNvPr>
          <p:cNvSpPr txBox="1"/>
          <p:nvPr/>
        </p:nvSpPr>
        <p:spPr>
          <a:xfrm>
            <a:off x="4972533" y="5391305"/>
            <a:ext cx="280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/>
              <a:t>Сгенерированный отчет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43CF3A5D-3877-4F36-B90D-0861B0AC31C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283967" y="1458355"/>
            <a:ext cx="4185443" cy="3681071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F5704A8-AB5E-40EE-93D2-A76C9C800B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3536" y="2276848"/>
            <a:ext cx="2067213" cy="228631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D60EB12-DD3A-4D87-97D3-3E33703E75E1}"/>
              </a:ext>
            </a:extLst>
          </p:cNvPr>
          <p:cNvSpPr txBox="1"/>
          <p:nvPr/>
        </p:nvSpPr>
        <p:spPr>
          <a:xfrm>
            <a:off x="792986" y="5391305"/>
            <a:ext cx="280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/>
              <a:t>Форма генерации отчета</a:t>
            </a:r>
          </a:p>
        </p:txBody>
      </p:sp>
    </p:spTree>
    <p:extLst>
      <p:ext uri="{BB962C8B-B14F-4D97-AF65-F5344CB8AC3E}">
        <p14:creationId xmlns:p14="http://schemas.microsoft.com/office/powerpoint/2010/main" val="2674309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/>
          <p:cNvSpPr/>
          <p:nvPr/>
        </p:nvSpPr>
        <p:spPr>
          <a:xfrm>
            <a:off x="4499992" y="116632"/>
            <a:ext cx="4536504" cy="6624736"/>
          </a:xfrm>
          <a:prstGeom prst="rect">
            <a:avLst/>
          </a:prstGeom>
          <a:ln w="76200">
            <a:solidFill>
              <a:srgbClr val="DE652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ru-RU" b="1" dirty="0">
              <a:solidFill>
                <a:schemeClr val="tx1"/>
              </a:solidFill>
            </a:endParaRPr>
          </a:p>
          <a:p>
            <a:endParaRPr lang="ru-RU" b="1" dirty="0">
              <a:solidFill>
                <a:schemeClr val="tx1"/>
              </a:solidFill>
            </a:endParaRPr>
          </a:p>
          <a:p>
            <a:endParaRPr lang="ru-RU" b="1" dirty="0">
              <a:solidFill>
                <a:schemeClr val="tx1"/>
              </a:solidFill>
            </a:endParaRPr>
          </a:p>
          <a:p>
            <a:endParaRPr lang="ru-RU" b="1" dirty="0">
              <a:solidFill>
                <a:schemeClr val="tx1"/>
              </a:solidFill>
            </a:endParaRPr>
          </a:p>
          <a:p>
            <a:endParaRPr lang="ru-RU" b="1" dirty="0">
              <a:solidFill>
                <a:schemeClr val="tx1"/>
              </a:solidFill>
            </a:endParaRPr>
          </a:p>
          <a:p>
            <a:r>
              <a:rPr lang="ru-RU" b="1" dirty="0">
                <a:solidFill>
                  <a:schemeClr val="tx1"/>
                </a:solidFill>
              </a:rPr>
              <a:t>Студент группы: Никитин К. Е.</a:t>
            </a:r>
          </a:p>
          <a:p>
            <a:endParaRPr lang="ru-RU" b="1" dirty="0">
              <a:solidFill>
                <a:schemeClr val="tx1"/>
              </a:solidFill>
            </a:endParaRPr>
          </a:p>
          <a:p>
            <a:r>
              <a:rPr lang="ru-RU" b="1" dirty="0">
                <a:solidFill>
                  <a:schemeClr val="tx1"/>
                </a:solidFill>
              </a:rPr>
              <a:t>Руководитель: </a:t>
            </a:r>
            <a:r>
              <a:rPr lang="ru-RU" b="1" dirty="0" err="1">
                <a:solidFill>
                  <a:schemeClr val="tx1"/>
                </a:solidFill>
              </a:rPr>
              <a:t>Ордяков</a:t>
            </a:r>
            <a:r>
              <a:rPr lang="ru-RU" b="1" dirty="0">
                <a:solidFill>
                  <a:schemeClr val="tx1"/>
                </a:solidFill>
              </a:rPr>
              <a:t> Д.Е.</a:t>
            </a:r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177" y="0"/>
            <a:ext cx="4433161" cy="6858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8" name="Группа 7"/>
          <p:cNvGrpSpPr/>
          <p:nvPr/>
        </p:nvGrpSpPr>
        <p:grpSpPr>
          <a:xfrm>
            <a:off x="107504" y="5085184"/>
            <a:ext cx="6480720" cy="1296144"/>
            <a:chOff x="2843808" y="5033185"/>
            <a:chExt cx="5688632" cy="108012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7" name="Прямоугольник 6"/>
            <p:cNvSpPr/>
            <p:nvPr/>
          </p:nvSpPr>
          <p:spPr>
            <a:xfrm>
              <a:off x="2843808" y="5033185"/>
              <a:ext cx="5688632" cy="108012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5" name="Рисунок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59832" y="5157192"/>
              <a:ext cx="5154178" cy="832106"/>
            </a:xfrm>
            <a:prstGeom prst="rect">
              <a:avLst/>
            </a:prstGeom>
          </p:spPr>
        </p:pic>
      </p:grpSp>
      <p:sp>
        <p:nvSpPr>
          <p:cNvPr id="13" name="TextBox 12"/>
          <p:cNvSpPr txBox="1"/>
          <p:nvPr/>
        </p:nvSpPr>
        <p:spPr>
          <a:xfrm>
            <a:off x="4572000" y="692695"/>
            <a:ext cx="432048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/>
              <a:t>«Разработка и защита базы данных автоматизированной информационной системы службы доставки ресторана»</a:t>
            </a:r>
            <a:br>
              <a:rPr lang="ru-RU" sz="3200" dirty="0"/>
            </a:br>
            <a:endParaRPr lang="ru-RU" sz="3000" b="1" dirty="0">
              <a:solidFill>
                <a:schemeClr val="accent3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3A3A5-6838-4BA8-BE42-EBE612759A09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923795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Аспект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1331</TotalTime>
  <Words>137</Words>
  <Application>Microsoft Office PowerPoint</Application>
  <PresentationFormat>Экран (4:3)</PresentationFormat>
  <Paragraphs>49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5" baseType="lpstr">
      <vt:lpstr>Arial</vt:lpstr>
      <vt:lpstr>Calibri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Судленков - реализация проекта МЦК-ЧЭМК 2016 (урезанная версия)</dc:title>
  <dc:creator>Васильев Юрий Петрович;Данные предоставили: Поликарпов И.Л., Ильин Е.М., Камалутдинова С.М.</dc:creator>
  <cp:keywords>МЦК-ЧЭМК</cp:keywords>
  <cp:lastModifiedBy>Константин Никитин</cp:lastModifiedBy>
  <cp:revision>154</cp:revision>
  <dcterms:created xsi:type="dcterms:W3CDTF">2016-12-05T07:23:21Z</dcterms:created>
  <dcterms:modified xsi:type="dcterms:W3CDTF">2023-12-08T21:31:23Z</dcterms:modified>
</cp:coreProperties>
</file>